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d1f5bb47cf4fb2" /><Relationship Type="http://schemas.openxmlformats.org/officeDocument/2006/relationships/extended-properties" Target="/docProps/app.xml" Id="R7daaf199b93b4070" /><Relationship Type="http://schemas.openxmlformats.org/officeDocument/2006/relationships/officeDocument" Target="/ppt/presentation.xml" Id="R7e9e82781b9a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80b43b5a64039"/>
  </p:sldMasterIdLst>
  <p:notesMasterIdLst>
    <p:notesMasterId xmlns:r="http://schemas.openxmlformats.org/officeDocument/2006/relationships" r:id="Rccf2aa693a5f408e"/>
  </p:notesMasterIdLst>
  <p:sldIdLst>
    <p:sldId xmlns:r="http://schemas.openxmlformats.org/officeDocument/2006/relationships" id="256" r:id="R19ba608dde4b4453"/>
    <p:sldId xmlns:r="http://schemas.openxmlformats.org/officeDocument/2006/relationships" id="257" r:id="R04d3740290e84e68"/>
    <p:sldId xmlns:r="http://schemas.openxmlformats.org/officeDocument/2006/relationships" id="258" r:id="R4608944f4b8a46cc"/>
    <p:sldId xmlns:r="http://schemas.openxmlformats.org/officeDocument/2006/relationships" id="259" r:id="R8a59afdd5d5b4bba"/>
    <p:sldId xmlns:r="http://schemas.openxmlformats.org/officeDocument/2006/relationships" id="260" r:id="R5f7cb2bd01484b04"/>
    <p:sldId xmlns:r="http://schemas.openxmlformats.org/officeDocument/2006/relationships" id="261" r:id="R1a00dc85acfa4629"/>
    <p:sldId xmlns:r="http://schemas.openxmlformats.org/officeDocument/2006/relationships" id="262" r:id="R037901f5aae142f5"/>
    <p:sldId xmlns:r="http://schemas.openxmlformats.org/officeDocument/2006/relationships" id="263" r:id="Rdf725ecc480d4cea"/>
    <p:sldId xmlns:r="http://schemas.openxmlformats.org/officeDocument/2006/relationships" id="264" r:id="Rf2fb126f83c646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80b43b5a64039" /><Relationship Type="http://schemas.openxmlformats.org/officeDocument/2006/relationships/theme" Target="/ppt/theme/theme1.xml" Id="R60d48c347d584241" /><Relationship Type="http://schemas.openxmlformats.org/officeDocument/2006/relationships/notesMaster" Target="/ppt/notesMasters/notesMaster1.xml" Id="Rccf2aa693a5f408e" /><Relationship Type="http://schemas.openxmlformats.org/officeDocument/2006/relationships/presProps" Target="/ppt/presProps.xml" Id="R46958fd00bf1413a" /><Relationship Type="http://schemas.openxmlformats.org/officeDocument/2006/relationships/viewProps" Target="/ppt/viewProps.xml" Id="Rd34b4dae31554547" /><Relationship Type="http://schemas.openxmlformats.org/officeDocument/2006/relationships/tableStyles" Target="/ppt/tableStyles.xml" Id="R188136145cbe48fd" /><Relationship Type="http://schemas.openxmlformats.org/officeDocument/2006/relationships/slide" Target="/ppt/slides/slide1.xml" Id="R19ba608dde4b4453" /><Relationship Type="http://schemas.openxmlformats.org/officeDocument/2006/relationships/slide" Target="/ppt/slides/slide2.xml" Id="R04d3740290e84e68" /><Relationship Type="http://schemas.openxmlformats.org/officeDocument/2006/relationships/slide" Target="/ppt/slides/slide3.xml" Id="R4608944f4b8a46cc" /><Relationship Type="http://schemas.openxmlformats.org/officeDocument/2006/relationships/slide" Target="/ppt/slides/slide4.xml" Id="R8a59afdd5d5b4bba" /><Relationship Type="http://schemas.openxmlformats.org/officeDocument/2006/relationships/slide" Target="/ppt/slides/slide5.xml" Id="R5f7cb2bd01484b04" /><Relationship Type="http://schemas.openxmlformats.org/officeDocument/2006/relationships/slide" Target="/ppt/slides/slide6.xml" Id="R1a00dc85acfa4629" /><Relationship Type="http://schemas.openxmlformats.org/officeDocument/2006/relationships/slide" Target="/ppt/slides/slide7.xml" Id="R037901f5aae142f5" /><Relationship Type="http://schemas.openxmlformats.org/officeDocument/2006/relationships/slide" Target="/ppt/slides/slide8.xml" Id="Rdf725ecc480d4cea" /><Relationship Type="http://schemas.openxmlformats.org/officeDocument/2006/relationships/slide" Target="/ppt/slides/slide9.xml" Id="Rf2fb126f83c6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9a52909f72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bb01183e7944d0" /><Relationship Type="http://schemas.openxmlformats.org/officeDocument/2006/relationships/notesMaster" Target="/ppt/notesMasters/notesMaster1.xml" Id="R61f26c8176f345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ed9acab658412f" /><Relationship Type="http://schemas.openxmlformats.org/officeDocument/2006/relationships/notesMaster" Target="/ppt/notesMasters/notesMaster1.xml" Id="Rd90b779e02e746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f84eec131642ec" /><Relationship Type="http://schemas.openxmlformats.org/officeDocument/2006/relationships/notesMaster" Target="/ppt/notesMasters/notesMaster1.xml" Id="Re84edcddf290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693082d49f42c6" /><Relationship Type="http://schemas.openxmlformats.org/officeDocument/2006/relationships/notesMaster" Target="/ppt/notesMasters/notesMaster1.xml" Id="R441a5a9103be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133cb8923407a" /><Relationship Type="http://schemas.openxmlformats.org/officeDocument/2006/relationships/notesMaster" Target="/ppt/notesMasters/notesMaster1.xml" Id="R1b93d48784d540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9fb73fec8a485c" /><Relationship Type="http://schemas.openxmlformats.org/officeDocument/2006/relationships/notesMaster" Target="/ppt/notesMasters/notesMaster1.xml" Id="Rcc793833f00c41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4771bf99849bb" /><Relationship Type="http://schemas.openxmlformats.org/officeDocument/2006/relationships/notesMaster" Target="/ppt/notesMasters/notesMaster1.xml" Id="Rdd2c2c235e154f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6915503e84ca1" /><Relationship Type="http://schemas.openxmlformats.org/officeDocument/2006/relationships/notesMaster" Target="/ppt/notesMasters/notesMaster1.xml" Id="R3ec6d22e393948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04412fda244f92" /><Relationship Type="http://schemas.openxmlformats.org/officeDocument/2006/relationships/notesMaster" Target="/ppt/notesMasters/notesMaster1.xml" Id="Ra4ba7985c688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a8e7b8bfe41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8261d95f944cda" /><Relationship Type="http://schemas.openxmlformats.org/officeDocument/2006/relationships/slideLayout" Target="/ppt/slideLayouts/slideLayout2.xml" Id="R7cd69add9575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69add9575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9cd7ee4c84c8a" /><Relationship Type="http://schemas.openxmlformats.org/officeDocument/2006/relationships/notesSlide" Target="/ppt/notesSlides/notesSlide1.xml" Id="R56274034856f48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57eeb2e604d9f" /><Relationship Type="http://schemas.openxmlformats.org/officeDocument/2006/relationships/notesSlide" Target="/ppt/notesSlides/notesSlide2.xml" Id="R03aa7aeeece143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22c46c848a4599" /><Relationship Type="http://schemas.openxmlformats.org/officeDocument/2006/relationships/notesSlide" Target="/ppt/notesSlides/notesSlide3.xml" Id="R287965d318c9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377fe9d5c4dfe" /><Relationship Type="http://schemas.openxmlformats.org/officeDocument/2006/relationships/notesSlide" Target="/ppt/notesSlides/notesSlide4.xml" Id="R4e27ab4fe70a49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c7332560964e69" /><Relationship Type="http://schemas.openxmlformats.org/officeDocument/2006/relationships/image" Target="/ppt/media/image.png" Id="Rb933fc0af8d04e43" /><Relationship Type="http://schemas.openxmlformats.org/officeDocument/2006/relationships/notesSlide" Target="/ppt/notesSlides/notesSlide5.xml" Id="R72c7515ec22143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996b36df54451c" /><Relationship Type="http://schemas.openxmlformats.org/officeDocument/2006/relationships/image" Target="/ppt/media/image2.png" Id="R4a17326b94544fcf" /><Relationship Type="http://schemas.openxmlformats.org/officeDocument/2006/relationships/notesSlide" Target="/ppt/notesSlides/notesSlide6.xml" Id="R014721d9075445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86163e7bb48cc" /><Relationship Type="http://schemas.openxmlformats.org/officeDocument/2006/relationships/image" Target="/ppt/media/image3.png" Id="R23a4d53c5f6a4bbc" /><Relationship Type="http://schemas.openxmlformats.org/officeDocument/2006/relationships/notesSlide" Target="/ppt/notesSlides/notesSlide7.xml" Id="R6a38e647e90245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308dbba054ea7" /><Relationship Type="http://schemas.openxmlformats.org/officeDocument/2006/relationships/image" Target="/ppt/media/image4.png" Id="Ree55f63d87814da9" /><Relationship Type="http://schemas.openxmlformats.org/officeDocument/2006/relationships/notesSlide" Target="/ppt/notesSlides/notesSlide8.xml" Id="R6414bb4124f64b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2a4a5d5a54721" /><Relationship Type="http://schemas.openxmlformats.org/officeDocument/2006/relationships/notesSlide" Target="/ppt/notesSlides/notesSlide9.xml" Id="R91b4187123124f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0DCAE68-9D7C-48C9-935C-01A0573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F19D4896-1300-40A9-B879-9E0D409F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080253E0-473B-489C-A1E7-A199248E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SOM WORLD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A8AB-5CF1-4CEF-935A-2DABF01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572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SOM เปลี่ยนข้อมูลประเทศ 7 มิติ ให้กลายเป็นแผนที่ความคล้ายที่อ่านได้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A9706-0917-44C0-9ED4-7B970F7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429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โปรเจกต์นี้ใช้ World Bank indicators เพื่อจัดวางประเทศบน Self-Organizing Map; ประเทศที่ profile ใกล้กันจะอยู่ใกล้กันบน grid แม้ไม่ได้อยู่ใกล้กันทางภูมิศาสตร์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9DC30-059A-4B91-A495-18AEBF9C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CA005-FA8E-40E3-91A1-8216A0E0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C3253-B758-4D06-8860-46C4235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171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6C057-02AF-4E94-B884-AC479A5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countries with complete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DE1BE-16DD-4A03-B002-F8C6B06B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4E036-2CC7-49A3-871C-09EBB784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5F85D-E0DE-4083-96EE-1E19BF0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A3DBA-062F-4D3F-8588-23E5CA9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World Bank indicators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80959-EED2-4C1A-8F93-AB5E45E4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834CE-7834-48B2-BDF2-16F4CC1C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CDDB3-8DD3-4E6C-A3C7-2132A880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527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5A8D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6D5A8D"/>
                </a:solidFill>
                <a:latin typeface="Georgia"/>
                <a:ea typeface="Georgia"/>
                <a:cs typeface="Georgia"/>
              </a:rPr>
              <a:t>9×10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7AA93-6483-4AA2-B4C2-BA12077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SOM 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86F31-C8DE-4AD9-BF7A-F954E26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28650"/>
            <a:ext cx="3714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88591-6450-442A-BE1D-2BBFF4F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9048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2D similarity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A78E5-64C6-47DE-AA9E-565CE95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6E5BC-9DD5-4B71-95BA-52B6897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77122-969B-4786-BD53-D5A0477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CDADB-6592-4E86-9032-9B8AA22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B6467-ED54-4FEC-8F92-48CD6252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A790F-9470-4699-A4A7-2FBDCA9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14372-A0C3-4357-ADA6-29003C1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4097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F08D4-DBFF-47C2-B45A-B5DE9BB1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A81B3A-C5C6-4C26-9E30-C120BEB9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90668-18E6-4415-AF33-92810B4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88232-0CA8-4C38-9ACD-25445459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0A6F8-94DF-4009-99B6-4CEB45CB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5EA8D-8871-4356-B550-D8119E0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9D1DEB-5A7B-44EA-B8D3-223DF510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192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40BD43-AEF7-40A1-9F68-A4E99AFF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3587C2-A4AC-4BCE-B72D-A821419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C8F28-87EF-45D6-9221-487AFA0C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57DE05-C24B-4BDE-8E4F-BEE2DDC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A6F09-0F90-4175-ACAA-FBA62023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B2965E-70BB-4203-92EF-F7A93035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F3D288-10EE-4469-AB56-45123F6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288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D4CBD2-9E18-4C51-809C-83964C0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4EF2A0-810B-4C00-88D6-A68619F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AFA0DF-25FF-4CBD-A316-0F06204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E1C735-562E-4652-B5E4-A6E9F3B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79F522-039A-47A1-8E71-274030BB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199163-9F5D-4959-A66C-D9B40B7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6B99C7-6A14-4C06-A71B-B6C78FD7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3842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63E758-2015-4C68-A928-D25ED0F1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D1B2F9-490D-42F8-AA3F-5E8C294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19C2EF-6038-4ABE-9003-014BF92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1E0A57-61BA-4924-9548-CD113731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82C89A-3DED-4F2A-BA74-55045F0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07B6FC-27DD-4EF7-B84B-E1B395D5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0A663E-F225-49A3-9A0D-95D9CB7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4800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3C7545-1784-4430-8C54-F2E3A164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324001-27D2-4CD9-9F9B-2C0E0E49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6EA497-8FE6-40F5-A835-CF820F0D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37D803-6B6A-4331-B486-8BCE682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DAFFC0-F638-47CD-B833-851CF59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0B8966-4F18-4DA1-BD7D-3333EF83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96A086-393D-48EB-B4FF-F6AA327B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57575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CFB40B-C4EE-4A89-92DE-F906536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9EBB0F-43CC-40CD-A996-D939AB7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0578CB-8807-4DE9-91CE-A1F6F47E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1E4584-CB5E-4E99-949E-76783D84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790DB0-C325-42AB-94B0-84554293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0E56B7-AA6A-40A8-93FB-FBCD4A2E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73037E-C118-4A23-8179-20E86602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67150"/>
            <a:ext cx="390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B5940C-0DEB-4048-B105-7CBBBB2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1A2A24-2F4E-4FF2-8131-7C9CCDCC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438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THA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914001-E2A1-4C7D-BC9C-99E121EC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EA23EA-5746-46BB-8965-264D319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053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แต่ละจุด = ประเทศหนึ่งประเทศ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115C85-30D4-4798-9769-D4042002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ระยะบน grid ≈ ความคล้ายของ profile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8300A2-152C-4411-ABF9-6D14D309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E97B75-8E52-4489-89F5-C151FF4B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เหมาะกับ exploratory analysis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9F6ADF-417E-463B-AB69-BF16CDAB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79F946-A469-4D65-BD19-6323B480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16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เห็นกลุ่ม, boundary, outlier และประเทศเพื่อนบ้านเชิงข้อมูล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CAC123-5F42-43E6-9DB3-490B5D7E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91DFCA-DFC4-4DE9-B1D9-548618C3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World Bank Indicators API; executed notebook analysis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27079A-F926-4473-950E-E80DEAE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93395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648A22-F5CD-4D42-BA14-36FBB9EC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4B3E5727-0A95-4668-A4A0-D3E52841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19CE447-0E8E-41C0-AA22-C21B1B21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WHY SOM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10A3E-F391-4C55-A01E-0811F514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กราฟปกติเริ่มอธิบายยาก เมื่อหนึ่งประเทศคือ vector หลายมิติ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4D228-DDC2-4423-A633-BDF090CA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704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โจทย์ไม่ได้มีแค่ “ประเทศไหนรวยกว่า” แต่คือ profile รวมหลายด้านพร้อมกัน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A5E35-2D83-4F97-ACC6-D631244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2575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D5E03-E9D3-42C6-B04A-45976BA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Country vector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5790B-6613-43B9-8755-51E23FB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A6B89-C5C8-4A5E-813D-712E512F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956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GDP pc — รายได้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5BF43-6FC6-4F0C-85D0-400D6D2F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095A7-902C-469B-AC7E-715EDF7F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718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Life exp. — สุขภาพ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F4D1C-925D-463C-BDF9-85320A1D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390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399CF-F1FA-46B3-A785-5F8FCAEA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Internet — เทคโนโลยี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DB8E9-597B-481A-964B-7312038E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1466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436DE-D2CD-4E9B-B7DA-3AA6909F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242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Urban — โครงสร้างเมือง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90712-5F8B-4B58-9348-950ECD17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543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BA08F-43C8-40E9-971A-15A53B0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Unemp. — แรงงาน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20801-737D-4ECC-B8A5-CC97D4AF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B2D1C-38FC-44EE-9CEF-3887D33B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767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Electricity — ไฟฟ้า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1A2F9-8197-4BA1-9AC5-27F8F017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B75D8-BEE9-4F01-A586-C52BFE9A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765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CO₂ pc — สิ่งแวดล้อม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0D683-B3DA-4BD4-8565-69D57529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781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EA11F-47F4-4D46-ACE7-67F54F30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98C80-A9BF-4A0B-B0FD-A3E216E2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290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C47F2C"/>
                </a:solidFill>
                <a:latin typeface="Tahoma"/>
                <a:ea typeface="Tahoma"/>
                <a:cs typeface="Tahoma"/>
              </a:rPr>
              <a:t>SOM learns\ntopology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E2542-268F-4DFD-835E-409D0DD0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3352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76CA3-430C-4AE0-997C-BFB2D275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E4D49-7E47-4E7D-8E79-DEC2D528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8E60F-C303-48CE-9CEA-C003F59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83B6A-16FF-454E-B497-EF378D41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EFD08-C188-4FB3-B74B-E8D7F48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DE5F3-9C24-4376-B27D-BE27C3E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60271-7A76-4673-B92B-A39F9E66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B39A6-9F55-4E06-BE16-4075B44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B0D805-CDAB-4CCB-8F35-A9164306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00D859-1B07-4D36-BDA5-E6C8BCE9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592E9F-682E-4791-BC65-F12A3526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A8F108-2D7D-4A70-AB03-D9226579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9F7528-3C7A-41D0-AA0A-39C15371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C2093D-69B3-4948-83C8-D262099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86FF67-14A2-44B2-A2C8-84C2E764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EB1B0D-E2C0-42B3-9672-2746835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8DDB3E-BCCF-4412-8831-755E7BD8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7120D2-909A-40B5-B97A-F9519240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14FAF1-40D7-42E4-8E5B-0789E61F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DF890A-6D2A-4957-8EAE-232440C8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12C6A7-0C20-49E3-866E-06F593DC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C87039-EB63-4145-B906-B6CE339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67BF3F-2DFD-4DFB-957D-30530C46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F185F0-8846-4012-803E-A4FA0A45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831DAE-2F83-4F69-AA0B-3CCF2A5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6C082D-0FE6-4C47-9D05-3FB7346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991E0A-FF81-4CD2-B4F9-5D651A8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A7554D-E1E8-494C-87F7-79586699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D347B7-CDC1-498C-B512-6F20499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CCE7EE-CF2E-4BDF-92FA-11EB8C3D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47A18A-57AA-4818-A93E-220663B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E887BF-CA51-46D5-8600-05D0CD4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C1E148-DC23-40FD-A764-EBC6B2C4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D42A52-996C-4EA3-ACF1-185B52B8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477E60-3091-473A-943E-7946536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7AE7B6-0513-423F-A608-8A7252E7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A61A44-DB8B-4858-A3BC-3B41E3DB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056168-71D4-4BEC-A11F-BBDDF1F6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26A358-06BD-4AA6-ACC6-BEBA702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0F3089-5EB5-45DC-8C55-F8FDE12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C27A99-B501-45B0-8050-7C613D8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5C7D5F-8817-4172-8335-58BDACB1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2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30C620-0185-43F2-947E-EBB2D215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48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2D map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087B97-B261-437F-97AF-A6621174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809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FEB708-08AB-4F2C-80A4-0E90F6D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ประโยชน์ที่เห็น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4F943B-D4BE-48B7-BB9F-064C9ABC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98F069-B628-46B0-A821-9C4A751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209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3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ประเทศคล้ายกันอยู่ใกล้กัน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F27C9A-8397-42DD-9A39-F57D3EA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268490-7A4C-4792-892A-C9E5B0D6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76650"/>
            <a:ext cx="1209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3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ดู boundary ระหว่างกลุ่ม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FC2944-DB77-46C6-8076-31755CF1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34F951-CF2D-4792-A301-1020557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48150"/>
            <a:ext cx="1209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3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อธิบาย cluster ด้วยภาพ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A7562C-032A-4F2C-8344-461B03DB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F402A8-663B-4DBF-B09A-4F396660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World Bank Indicators API; executed notebook analysis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CB4C0F-F547-4A10-AAE0-35E0718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356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1CE8A63-2BD6-4D67-BB51-61727F7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8B2546C7-AA74-4071-BBA3-C714BA35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539021FC-3C60-4461-A5FD-14753D90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DATA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BF23B-0BE7-4B10-B100-27A5BA9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ข้อมูลถูกทำให้ reproducible ก่อนเข้า SOM: เลือกปีล่าสุด, log-transform, แล้ว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A251A-F437-4DFC-A338-CDB31D2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24622-8093-4412-87AD-94B6CF1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World Bank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FC15F-4901-4D44-86DE-934F63F5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ดึง indicator หลายปี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5E426-2C74-4FC9-BC38-CD68387F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228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4DC8D-F747-4B71-8AEB-219BC13A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193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70E2A-BB39-443E-94CE-ED7CB93F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764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C0C22-F293-4A95-94E9-C5FA3F5E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8595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Latest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84E0A-812C-499A-B7CD-062C527C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002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ใช้ค่าล่าสุด 2018–2024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AA2FD-7681-4298-A60C-DDE81991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52650"/>
            <a:ext cx="228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C7C2A-1186-425C-BDF7-5EF9EF6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193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EDF45-6E72-4E55-BCBC-74361D13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51A2C-9621-45C4-ADA4-704D9E0A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Feature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1AE7D-DDA7-4454-84CB-E504A61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02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log GDP และ CO₂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6119E-6A23-49D9-A138-1E36F3B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228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1E86B-7CFA-4CAA-B27D-34BEB7B6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193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2C8B1-EF2D-4C15-BBBA-FC5D83B4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764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56E40-544A-4339-AF9C-2B1A5AE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8595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StandardScaler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27C61-EBF6-4F87-BCC1-1C4B89D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002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ทุก feature น้ำหนักใกล้กัน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C6532-0A6C-4322-9E55-25525B9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52650"/>
            <a:ext cx="228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1241A-617F-4068-B2AC-9CFC30DB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193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FAB14-38D0-4894-9CE2-38CA606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777624-E8FB-4263-A08F-15FAB76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3AC53-F0E1-494B-B463-763F440B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02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map เป็น 9×10 grid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8BBD07-7A16-4659-BFED-1D7F53C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80B81-11C3-4E37-95EF-0F49AFBE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Feature matrix used by the SOM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54CD8-A1CC-43F2-B42E-5305032C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45946-8079-4C15-849A-B3ADA5D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Feature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AF1E9-5D38-46EC-90FB-5D06C012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8DD2BA-34D6-4966-AC44-1E46B943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76625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Source / transform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E78F6-CBC2-43DA-9593-647D4D2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E5691-C932-4275-AB29-03262BA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GDP per capita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B72091-D774-45A7-A7B4-C926C77A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147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8C61FE-4DD4-4207-8AF3-1495B523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4332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NY.GDP.PCAP.CD → log10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83F990-3841-4FD8-8FF3-806BD85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DC4D38-9FCD-4726-B037-D5689D8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Life expectancy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AA31C2-C2D2-4465-A3D8-09987EEE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005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A34C59-07FF-464D-9DC7-24526CDE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2907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SP.DYN.LE00.IN → latest value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83167C-F56E-4497-A81D-A8254A0D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65D029-4571-42A5-A1E6-AF8D21C0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Internet users 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B48FAD-13FB-410B-9134-671F1C6A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862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3A7B7C-D8BD-43FB-A5BB-0313967B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1482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IT.NET.USER.ZS → latest value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F99171-4A71-4238-A3AA-9E2A176D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280341-00D7-4F24-AB8C-818EC77D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0057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Urban population 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2E600B-CF71-456C-B92B-8706BB3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D5DBA3-F267-4F99-AD2A-B165137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0057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SP.URB.TOTL.IN.ZS → latest value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F9BA12-BD47-4F8E-9ED4-0B58DC4B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4BA7E3-FADD-4718-8525-C6DB1FE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Unemployment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A999B3-FFCD-472C-AD6B-E16B2ED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577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78723A-AC49-466C-96BA-9EFFB33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8632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SL.UEM.TOTL.ZS → latest value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3E0F1E-4991-48B1-A0C1-0312E998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15CE59-CC99-457E-AF8A-65032761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Electricity access 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695737-CD8D-46CD-9AA9-AB72EA5E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435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690B5C-1410-4055-B1E4-AA37F295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7207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EG.ELC.ACCS.ZS → latest value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19231B-7673-4EA8-AFD2-02819C9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FD9D08-1B64-420A-8905-E42B6440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578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CO₂ tons per capita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151C17-C5EE-46CE-8BE8-407454AA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BE975B-4E54-4BAD-96F2-FF36280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5782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0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CC.CO2.EMSE.EL / SP.POP.TOTL → log1p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27E12C-9660-409E-AAB5-A3EEA68F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6D90D1-1C55-408F-9456-5FA6EE3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ทำไมต้อง scale?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AE140D-DD03-4B8C-9697-7A5519B8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SOM ใช้ระยะทางระหว่าง vector ถ้าไม่ scale ตัวแปรที่เลขใหญ่ เช่น GDP จะกลบตัวแปรอื่นทั้งหมด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A25A52-3B3D-44D7-9018-883E3E39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3B2F50-ABFB-4C28-ADD1-85B60EF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81575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217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10F3B1-3BFD-4117-8661-D61D4C8D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938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countries in metadata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DEE927-09E9-4F85-9973-A9666BCC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720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9FD96D-1EC8-4279-A4EB-C942DD44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81575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171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0B4D4F-3DE2-46C4-BA46-DB5E48C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292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81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complete cases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6F10DD-8048-4ED6-B86C-791D94DC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264DF1-C47B-4C84-A3AC-76A5D89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World Bank Indicators API; executed notebook analysis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901968-A6D8-4F4F-A059-BB1CAA30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8249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0DA6861-7262-4A0C-96EB-C42E6BA3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4CA26DF0-97EC-4336-B2AF-F94A08A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F677370-27C3-48CA-B59C-7A41882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MODEL MECHANICS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64666-93D9-4FDB-897A-B397FB54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3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SOM ไม่ได้แค่จัดกลุ่ม แต่รักษา topology ของข้อมูลไว้บน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2E673-66C1-4EFD-BBB9-75900E9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667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51743-5976-4DA2-B6ED-23A1DE0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1. Sample country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6A807-6005-418F-9445-FFB33BA0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[ GDP, health, internet, urban, labor, infra, CO₂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9673A-E601-4B26-A60C-C829614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หนึ่งประเทศกลายเป็น vector 7 มิติหลัง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00EF7-8118-4598-AC36-88212B5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5334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863A7-BC4A-4708-824C-50E9BB79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6CCF4-0148-4FA0-B57C-8B73892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8B911-AC96-44E7-BF02-B6D1A51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90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76B87"/>
                </a:solidFill>
                <a:latin typeface="Tahoma"/>
                <a:ea typeface="Tahoma"/>
                <a:cs typeface="Tahoma"/>
              </a:rPr>
              <a:t>2. Find BMU + update neighbors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19485-D8F8-4A24-B446-63EDF790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FBCBE-57CE-4E11-9768-9CB2A9B9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C1497-D13E-4BC8-8963-54188635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BF114-0360-4D46-B442-918CC8CC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1D3B-7F5E-4F9F-B0D6-1E35CB2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1CAEE-4929-4A87-A6B2-D339800D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0E16C-34E1-4ADB-8E68-D2CFF2C6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431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71552-865F-4EA3-8056-677F77AA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D6275-8206-4AE8-8133-FDBA52F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87A1D-DBC1-4C83-995F-AD98AF04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78AFD-DD98-40E1-80FB-A6A82EC1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6F86E-E617-439A-AB9D-43009BAF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032A7-D2F5-4A79-AC2C-8983354E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372BF-8B06-4658-858F-281D779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574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B3D33-70E3-48DB-A8B2-C05669A4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BDB70-07A1-4C92-A946-5B197D2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929D4-E4EA-4E27-AF82-BF8579B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8D725-E8E2-4911-9849-39FE570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0C0C6-DE9F-46CD-8885-076B0D19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B2ED8-A7E9-43C5-B650-EBF1D966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A3139-B396-4055-BE40-A2A97AD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A099A3-C1F1-4A79-9D2A-B191A603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7790C8-64B8-4574-8E3C-7F3CDB0B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1BF5EC-F7B4-453C-8FE4-B52B4F3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BA78E5-43F4-456D-A0C1-32F2009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3984F-72E2-4D49-9A1D-9C9BC7BD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FCF642-9871-47B3-85E8-51FBE82D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D68535-D1A8-47CE-84A0-8AC72BE0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4850CC-C80A-4E6E-A6E2-EBDE9EA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F67B7D-6057-42D7-88B8-6DA750B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0E2743-B283-49BF-8521-3E95B37E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5686A0-40D4-4BCE-8FAA-29D5869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7CBBEF-7B1D-41AD-893D-4BCB615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09871F-FAD9-4E3D-A627-BDDB500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0F3484-D970-40CD-96ED-E6DDF1D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A4C43D-AE6B-46F2-89D6-453764B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0E5D9E-4732-404D-A7CC-6F1B517D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94F632-355A-4CD5-993D-A6C88872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85C77E-64C8-471D-8877-A0A20476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E629C1-E3C5-4F69-8DEC-B278F40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1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7C166D-B9B3-4031-94CB-5B30D2FE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583481-E5B6-472A-83CE-C06C762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14775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A51553-E4B6-478E-B6FF-0E4E7CBF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CE21D5-5C36-4B6D-8BFF-EEC307B3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0DE07E-2254-4F6A-9513-77FDE2B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50F63C-2903-47BF-A91D-A08F6C3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E05146-A50F-4636-970A-CE9F736B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6A7B60-7C1B-4DF2-B444-CFDEE02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DCEA11-3890-43CF-80CB-48F86DD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29100"/>
            <a:ext cx="304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D863FE-7B0E-4839-AED4-10B2D31B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BMU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0F0694-D720-4DDD-BE34-CD0E9E78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91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938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neighbors move less as radius decays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3DBD18-982E-4FCA-A58D-80FF0C0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4953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F6461D-7C24-4008-AB5F-2A0C690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C97E8D-95AC-43A6-BCC0-EB62DC6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3050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FA53D4-A6BA-45DE-97BB-73138C0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19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3. Result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5626C6-AD5D-4F83-B638-8BF827F7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ประเทศที่มี pattern คล้ายกันจะถูกดึงมาอยู่ใกล้กันบนแผนที่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A1F692-D894-4F55-B1E8-DF8911E2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96EB09-5D44-4021-ADBC-E203F60E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9,000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5698AFF-DDDA-4452-8722-238B369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14775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training iterations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A48DDA-60FF-456F-B0C5-C5B1F7DC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0BF7E5-A8C9-4644-AA6A-F3CE9002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FD22B2-6E14-4EC1-949C-6F231142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0.687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07CA75-8E33-4F88-AD47-CB2224FA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quantization error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9DA3C2-0240-46A8-91F0-69D1766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914DFB-BBF8-49DB-B234-14C21ABA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A4E7D3-F963-4D8F-ADA1-F077E10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768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0.018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3C0638-755A-4FB1-A3DA-7FE6B8CD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34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topographic error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79596B-BDCE-4827-B1C6-AB9546D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Topographic error ต่ำ แปลว่าเพื่อนบ้านบน grid ยังสอดคล้องกับโครงสร้างข้อมูลเดิมค่อนข้างดี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13E8C1-1564-4BA2-85D0-DBD3CEB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74F803-3065-4A79-A6A9-FDC465E1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SimpleSOM implementation in executed notebook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72C1BA-B5BB-4D1F-8C5C-568BD38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59357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E29EA71-3D63-4C9B-B75E-6C78D42A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217D7F4-0EE7-41C1-80F0-C33599E1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3114F276-8F4F-4F60-9A9F-041F0006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RESULT: U-MATRIX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81BC-2972-4F09-9818-8B9DE0B4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U-Matrix ทำให้เห็นทั้งพื้นที่ต่อเนื่องและรอยต่อระหว่างกลุ่มประเทศ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FBCCD-695B-4AF2-B9C8-EBCA1E7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2105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3fc0af8d04e43"/>
          <a:stretch xmlns:a="http://schemas.openxmlformats.org/drawingml/2006/main"/>
        </p:blipFill>
        <p:spPr>
          <a:xfrm xmlns:a="http://schemas.openxmlformats.org/drawingml/2006/main">
            <a:off x="1558305" y="1600200"/>
            <a:ext cx="6008341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7EFF8-A99E-412A-AC65-12CB048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81150"/>
            <a:ext cx="2381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664B6-473D-4FA3-BFC8-505C4BA9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อ่านภาพนี้ยังไง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B1D49-125F-4D75-A595-1043850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CC9E1-92A7-44C1-BDA6-6622D361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จุด = ประเทศ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64BF9-4609-413C-894C-68360C5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61E7E-0711-4B4F-8C39-49130C3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สีพื้น = ระยะห่างเฉลี่ยกับ neuron ข้างๆ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A6314-2818-4972-80AE-302598B2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2A73D-3F5F-4D00-85D5-B4458C2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433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พื้นที่สีต่ำคือบริเวณที่ profile ต่อเนื่องกัน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3547E-3675-4EA4-88C6-38200F1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1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B5BE1-6385-4AE5-A289-B5193ACE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ไทยอยู่แถว upper-middle income ที่ internet/infra สูง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98A5B-213D-4EFA-806A-39D19E4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578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Key point: SOM map ไม่ใช่แผนที่ภูมิศาสตร์ แต่เป็นแผนที่ความคล้ายของ feature 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2A4A7-D791-40E9-A3F1-0EFF4E9F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C4714-4019-4B09-A478-9AD459DC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World Bank Indicators API; executed notebook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01915-3A98-45F9-97B8-4DD47CA7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301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1CE2EF3-CDA7-400D-9E86-53A5845B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FD718F62-F298-4168-838F-B23B5769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90FED86F-23BB-4EA1-ACCA-F9EAB34A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D8E70-8D1F-47AD-8567-ACC1CB1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28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Component planes ช่วยอธิบายว่าแต่ละโซนของแผนที่เด่นเรื่องอะไร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7D3C7-FEA8-4D0A-BADC-9A46FC10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572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7326b94544fcf"/>
          <a:stretch xmlns:a="http://schemas.openxmlformats.org/drawingml/2006/main"/>
        </p:blipFill>
        <p:spPr>
          <a:xfrm xmlns:a="http://schemas.openxmlformats.org/drawingml/2006/main">
            <a:off x="2450036" y="1562100"/>
            <a:ext cx="6787103" cy="3371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A9588-20F0-48AD-8E4E-F36AEF1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3190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CA8A6-910F-45A8-A1EF-F929A3AC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22281-AE2A-49F9-9492-569385B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86400"/>
            <a:ext cx="2533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907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GDP, life expectancy และ internet สูงมักจับกลุ่มในบริเวณใกล้กัน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C27BF-AEFA-4B69-9356-DFDD370E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38750"/>
            <a:ext cx="3190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A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19675-15DF-4F3C-A12A-B88C06A8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B22D2-6BB0-4ACA-A9FC-19FD187B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2925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907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CO₂ ต่อหัวช่วยแยกประเทศรายได้สูง/พลังงานเข้มข้นออกจากกลุ่มอื่น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C0144-53A6-4829-838B-E4F78297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38750"/>
            <a:ext cx="3190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0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E970C-4FEC-4C8E-819B-D9E515EE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A5CE7-B7E7-43AF-AF79-E898390B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2925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907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นี่คือเหตุผลที่ SOM อธิบาย cluster ได้ดีกว่า scatter plot 2 แกนธรรมดา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6FA75-6E19-4E98-ADED-F1CC0564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7D132-EC3E-44DE-9786-DF4B1597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World Bank Indicators API; executed notebook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F81B7-E71F-47D0-8DBF-C7D09D11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86039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D21F3BB-4838-4A0E-AE6F-B891C56F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5BAFD09-DB2C-461A-8572-FD3B1B41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573D4A5-4862-458D-994F-DF89E78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THAILAND NEIGHBORS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FB7A2-1DEE-4FDB-980C-E9E8ABC2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ประเทศที่คล้ายไทยไม่ได้จำเป็นต้องเป็นประเทศเพื่อนบ้านทางภูมิศาสตร์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68107-96DF-451A-B798-0C5BB340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0960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4d53c5f6a4bbc"/>
          <a:stretch xmlns:a="http://schemas.openxmlformats.org/drawingml/2006/main"/>
        </p:blipFill>
        <p:spPr>
          <a:xfrm xmlns:a="http://schemas.openxmlformats.org/drawingml/2006/main">
            <a:off x="723900" y="1886487"/>
            <a:ext cx="5715000" cy="31231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5E184-8410-467E-B1C0-13FB68AE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392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16AF2-B842-40D1-B3F2-2C9A4718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57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Thailand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3C83F-659B-41BE-9AA3-2A3DD9D5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050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915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GDP pc $7.3k  |  Internet 90.9%  |  Life exp. 76.6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3A63D-BE34-45EE-A941-440336DE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AB979-1A73-4BCB-9082-F2DECF8D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527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54781-45CD-45EF-8864-673E82B7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CE256-836C-4045-9FF2-7A019227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52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Country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479C5-65BC-480B-9D1D-7F55C0C9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DF9D7-44CC-46B7-9998-C5DE3C9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386BB-911B-4868-B404-9CA4B3FB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241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5CED6-2E21-493B-9FD7-967D212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7527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A19CB-B1C6-405D-A816-21F22064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9900"/>
            <a:ext cx="628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95249-2C00-4A51-BB47-9A7310E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38475"/>
            <a:ext cx="495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84CD6-753C-4E39-96B2-2A7463A4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4F91E-3C8F-43B5-81B4-2B411C4C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38475"/>
            <a:ext cx="142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ECU  Ecuador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C8465-224C-45C6-AC64-669FE3FC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C6A02-2610-41C3-990B-CDA0B542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38475"/>
            <a:ext cx="781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0.834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08C71-ED76-4BA1-8A93-52BA3A7A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09900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9919A-B6FC-459B-B803-FD13FFCF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38475"/>
            <a:ext cx="5334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1A887-F4C9-46AD-AC7F-71064E62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81375"/>
            <a:ext cx="628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38E91-E5F8-4488-BBCD-6893E07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09950"/>
            <a:ext cx="495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47644-98B1-499A-80A1-2E684DD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81375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B59A1C-EBC0-44F6-9231-042CCEE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409950"/>
            <a:ext cx="142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JAM  Jamaica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1029DC-9726-4FB3-A93C-F5C7858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8137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C0067-7A34-4E0A-8964-4D37118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09950"/>
            <a:ext cx="781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0.853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065FB-B124-477E-8099-FBA9B432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8137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0CEAB-4D5D-4306-8837-04A38FB6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09950"/>
            <a:ext cx="5334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EA090-67E0-4391-85C8-12C5A82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628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E669D-970B-497B-81A5-35FB499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81425"/>
            <a:ext cx="495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D9325-20FE-41C8-B3A0-9CAA0D68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C4ACD-B5CA-454B-A049-6406AEB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81425"/>
            <a:ext cx="142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AZE  Azerbaijan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F0D365-BE9C-41EC-8CA4-3613D1F6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528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ED82AF-16A8-4475-B3BB-C7FF5D0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81425"/>
            <a:ext cx="781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0.930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FAEE7-0DAE-44AF-A8D3-40463DA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52850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9630B-F899-4445-AEDA-4A7D491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781425"/>
            <a:ext cx="5334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4F2238-F655-40B6-BA3A-C37920CB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24325"/>
            <a:ext cx="628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CDFA09-92A0-401C-9092-30B9E1A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52900"/>
            <a:ext cx="495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5B1AAD-7F66-4C6E-A4B1-A00FEF9B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24325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C57AB4-E2B9-4EC8-94AF-BAC75E42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152900"/>
            <a:ext cx="142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MEX  Mexico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B508C3-0BD3-477D-8351-0F444F7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2432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CA269-08B2-483B-AF27-1657CF7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781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1.075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4D4D82-F3FC-4D3D-856A-90CDECC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2432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B4D893-7F0F-4E16-92D8-9AF72A5E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152900"/>
            <a:ext cx="5334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515A8C-A708-450C-BFC2-300277EC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95800"/>
            <a:ext cx="628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EB0457-85EA-40DA-B324-D7BE5348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24375"/>
            <a:ext cx="495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9A983C-DAE7-44A0-95E0-48F8033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474C61-E62C-47AE-93F6-9103E1D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524375"/>
            <a:ext cx="142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CHN  China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90BE2B-925C-410E-A704-F1799A28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F2E8A6-1123-4BD6-81DD-2D017491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24375"/>
            <a:ext cx="781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1.107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B451E3-0EC6-4B73-87F7-CC2D6CFC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95800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8262B4-EE70-4CB4-9C00-9AA8F42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524375"/>
            <a:ext cx="5334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BA6278-6C3B-4432-BFD1-D2B695D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911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1013" b="0">
                <a:solidFill>
                  <a:srgbClr val="667085"/>
                </a:solidFill>
                <a:latin typeface="Tahoma"/>
                <a:ea typeface="Tahoma"/>
                <a:cs typeface="Tahoma"/>
              </a:rPr>
              <a:t>Insight: Ecuador/Jamaica/Azerbaijan เข้าใกล้ไทยเพราะระดับรายได้ โครงสร้างเมือง internet และ electricity access อยู่ในช่วงใกล้กัน แม้ภูมิภาคต่างกัน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358A77-511E-4689-8D6A-34F3A54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770659-500B-4F97-BC0C-5AF392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thailand_similar_countries.csv; distance computed after log transforms and StandardScaler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31304E-B802-44CD-927E-231E2B0D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83742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B1F945-9A3A-41B8-88BD-762130EF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935F19F-BC7B-40EC-912A-2EA5C845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A08A0E1-3D78-41E2-A5E2-078BF40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667085"/>
                </a:solidFill>
                <a:latin typeface="Tahoma"/>
                <a:ea typeface="Tahoma"/>
                <a:cs typeface="Tahoma"/>
              </a:rPr>
              <a:t>MACRO CLUSTERS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51533-F7B6-4167-9577-4098588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SOM ใช้ได้ทั้งดูเพื่อนบ้านรายประเทศ และสรุปเป็น cluster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896C7-36BA-4B2C-8EFB-5A864A9E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2197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1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5f63d87814da9"/>
          <a:stretch xmlns:a="http://schemas.openxmlformats.org/drawingml/2006/main"/>
        </p:blipFill>
        <p:spPr>
          <a:xfrm xmlns:a="http://schemas.openxmlformats.org/drawingml/2006/main">
            <a:off x="872275" y="1600200"/>
            <a:ext cx="4541949" cy="3505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A9F5F-35E8-4D74-AB71-E9383D7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A6BAC-1A78-48E6-8A54-8F184926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478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Cluster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3C3D3-B6B6-461D-85AA-5C4E93C7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46F0F-AD05-4A55-99C1-9666D06D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478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DA60C-1A75-4DFD-BA3A-B9CB073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B32B7-4F7F-45CA-8741-CA704D26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4782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GDP 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07338-C3E7-47D3-B919-2D159373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192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E5AFD-4F0B-4519-B705-39F1E1B0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478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Life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85689-8137-4EF7-B39E-EE87897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CCB5D-B8DC-4014-8960-FF7805F7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4782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65FC7-5C8D-4842-9EC3-678C87C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EC2EA-6516-40FD-9FD6-5F935537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478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Reading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6BAF3-6845-4BD6-8EB9-45223614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16CB9-3928-4326-B348-6595DF17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33575"/>
            <a:ext cx="47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76B73-4F4F-41AE-98B7-9AE211D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5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CFDE5-5F17-4ECB-BE45-040F8B24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933575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46C24-660F-4ABF-8891-F9D7DA10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050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F58A3-8D66-4121-8D87-1BA70528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335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$3.3k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BE9E5-1BB8-4707-8A8F-71F23AB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9FF5E-D269-4D2B-9943-16B78C90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33575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70.6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E489ED-559E-46B5-B8CC-7D13821A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050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332EE-8B2E-485F-9D23-F7367F7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9335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62.6%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B0D697-7A27-4CD9-BB07-4857E6F0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402F0-A209-4D89-AA3E-E82C20DC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33575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developing / infra mixed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045F13-715F-4BF5-B778-134FCDB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B58817-1C5E-45BA-8F47-F1FC5E1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28875"/>
            <a:ext cx="47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9FE8B-5B45-44EC-B627-8E499918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5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26282-9C03-46E7-B7BC-A312BA95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28875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48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7879D6-B126-4EEE-B4DB-62C547B1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2E43F-F95E-48F0-928D-DE86362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$48.0k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51C9BF-C1C4-4EEB-945F-CDFCDB86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B000D7-F8DD-4989-AC43-129853C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81.0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397F13-D8E6-4523-AD3C-96D77C99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7D68EF-2A6B-4876-97ED-1CB3E2A0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288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93.9%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FEBEEC-3681-447B-8558-5EB7F319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C8C237-A176-4D9E-B842-5DE4E57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28875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high income / high 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E91D74-38FF-4A9E-B75F-1320093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6BAD3A-45A3-42CB-8278-F725D65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24175"/>
            <a:ext cx="47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8A10A5-6E33-4C12-B231-BAAD99C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5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89A02B-CDE5-4D87-8E79-8DD5110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24175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B44CD1-2171-4407-A521-506C42C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B4663B-B556-45E1-A6A3-33F30F40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241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$1.1k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D623B4-8A56-45C6-8DBD-2168172B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6D958E-4E21-42B4-83FB-FF2AEAE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4175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63.3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9025FA-83F0-4783-A38F-91B2D55A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A0C916-5192-4827-ABF8-86F2329D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241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25.9%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1E9E8C-4A85-467B-BB69-6B53AD5D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C778AD-ECFC-42E0-ADDE-4E03F9A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24175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low income / low access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711651-148A-4B8E-AF7B-E2D16C65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C2B556-7332-48A9-836E-83AC7409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19475"/>
            <a:ext cx="47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D11947-E831-4CC6-B651-739B43F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45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1A7CD6-6EB9-4A6E-8155-357FCBFB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19475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2BAA01-ADBD-42D6-919F-61DCEF7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A68C20-A423-41F6-B2B3-0C9AB78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194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$4.1k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43DC4C-F863-4E7C-BB81-F18CBCE4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C55735-1106-4783-B202-3816BD84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19475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66.8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C207EA-5969-4FFE-95D8-F65FB872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43A72A-46D6-4938-BC92-2D3FF237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194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54.4%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8F624E-A202-4854-8A15-66A4E6E4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64ED42-ECA6-4AB1-B86E-A9846B32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19475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high unemployment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AEB139-7894-4839-9CEB-2CEC8D16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60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C34086-A119-4680-A69F-227274D9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14775"/>
            <a:ext cx="47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1">
                <a:solidFill>
                  <a:srgbClr val="111827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D8AD75-5BBE-490B-B4EC-68ABE4AD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45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BD6298-5CE5-48F8-AFB9-85389DB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914775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48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4B9F38-7B1F-432C-846D-C1BEE88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C53E7E-8378-4D26-8F00-A7A72E34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147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$11.6k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561937-5ACF-4CDC-80F7-B2B1B95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36FAB7-AB85-4704-A965-4FD15E83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14775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76.0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557979-289D-439C-9119-90EA0F91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DE9AC8-9EC2-41D0-9F41-9C10C53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14775"/>
            <a:ext cx="59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84.0%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50C9DF-9F8D-4A23-A286-11444BD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7620">
            <a:solidFill>
              <a:srgbClr val="D8CEC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3663E6-F0B9-4EDF-ABFD-D65B5408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914775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11827"/>
                </a:solidFill>
                <a:latin typeface="Tahoma"/>
                <a:ea typeface="Tahoma"/>
                <a:cs typeface="Tahoma"/>
              </a:defRPr>
            </a:pPr>
            <a:r>
              <a:rPr sz="720" b="0">
                <a:solidFill>
                  <a:srgbClr val="111827"/>
                </a:solidFill>
                <a:latin typeface="Tahoma"/>
                <a:ea typeface="Tahoma"/>
                <a:cs typeface="Tahoma"/>
              </a:rPr>
              <a:t>upper-middle connected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EC9301-A438-4002-B889-4FC2FDDA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525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289D94-86B8-434C-A325-B1F2F95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7ECF3"/>
                </a:solidFill>
                <a:latin typeface="Tahoma"/>
                <a:ea typeface="Tahoma"/>
                <a:cs typeface="Tahoma"/>
              </a:defRPr>
            </a:pPr>
            <a:r>
              <a:rPr sz="990" b="0">
                <a:solidFill>
                  <a:srgbClr val="E7ECF3"/>
                </a:solidFill>
                <a:latin typeface="Tahoma"/>
                <a:ea typeface="Tahoma"/>
                <a:cs typeface="Tahoma"/>
              </a:rPr>
              <a:t>Cluster 4 เป็นกลุ่มหลักของไทย: upper-middle, internet สูง, electricity access สูง และ CO₂ ต่อหัวระดับกลาง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C12F36-FAB3-422C-9B52-377BC86A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6FF758-7F4A-49DC-934C-E9F2DC55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Source: macro_cluster_summary.csv; clusters are KMeans over SOM node weights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50256B-B39F-4639-A6C0-A8AEAD08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97135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E5A07E3-AA6B-4D7C-A247-4173AC4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0608FB25-E860-47AA-BAFC-E7A04D5C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61B6C1B3-E014-4257-91B3-783E92B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D7DEE8"/>
                </a:solidFill>
                <a:latin typeface="Tahoma"/>
                <a:ea typeface="Tahoma"/>
                <a:cs typeface="Tahoma"/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41F35-1491-4F76-AB63-F621CD8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ประโยชน์ของ SOM คือทำให้ข้อมูลหลายมิติกลายเป็นพื้นที่ที่มนุษย์สำรวจได้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162DA-9C9E-4785-A958-6391CFF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9525">
            <a:solidFill>
              <a:srgbClr val="2B36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28D8-C8F0-45C3-BD62-E96C4156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B5E9B-126A-402D-B9CE-485F0E7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Dimensionality reduction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09FC0-9849-4639-BF3F-75C400D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B373B-B5F6-4DB8-AB2A-66786253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352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ย่อข้อมูล 7 มิติเป็น map 2 มิติ โดยยังรักษาความเป็นเพื่อนบ้าน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C7673-358C-4EE4-A9C4-B87F355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9525">
            <a:solidFill>
              <a:srgbClr val="2B36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D0BB3-AABF-498F-9426-12BB4B0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FC4C6-686F-4F9F-8F6F-382029D1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Explainable exploration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C5FC1-FD71-4A1F-AAC6-69666887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095B-5B81-446B-A760-E83DD932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352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U-Matrix และ component planes ช่วยอธิบายว่า cluster ต่างกันเพราะ feature ไหน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64570-BE2A-4737-AD89-06DE1B13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9525">
            <a:solidFill>
              <a:srgbClr val="2B36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00A6B-670B-408A-8AAE-43D10511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7A4D4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B7A4D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78A74-1172-417B-96EA-E97692F9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Real use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EE37A-F707-41FB-A5DA-F2FF869F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2B61C-C036-4A09-9BF7-6A47A8DC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352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ใช้หา peer countries, outliers, regional profile และเล่า insight ได้ง่ายกว่าตารางดิบ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13C04-7450-49E9-BB9B-D3FA4E23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899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F"/>
          </a:solidFill>
          <a:ln xmlns:a="http://schemas.openxmlformats.org/drawingml/2006/main" w="9525">
            <a:solidFill>
              <a:srgbClr val="2B36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D2E45-1DF4-4EA5-A224-05BE736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7F2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47F2C"/>
                </a:solidFill>
                <a:latin typeface="Tahoma"/>
                <a:ea typeface="Tahoma"/>
                <a:cs typeface="Tahoma"/>
              </a:rPr>
              <a:t>Limitations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21075-CED4-489B-B2D5-3D3BF97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530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DEE8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D7DEE8"/>
                </a:solidFill>
                <a:latin typeface="Tahoma"/>
                <a:ea typeface="Tahoma"/>
                <a:cs typeface="Tahoma"/>
              </a:rPr>
              <a:t>ผลลัพธ์ขึ้นกับ feature ที่เลือก, ปีข้อมูลไม่เท่ากันทุก indicator และ SOM เหมาะกับ exploratory analysis มากกว่าการประกาศ cluster ที่ถูกต้องที่สุด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EB908-A37C-4438-B74E-E549DE6C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C0B9E-0B00-4339-A098-B36104FE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8177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A8177"/>
                </a:solidFill>
                <a:latin typeface="Tahoma"/>
                <a:ea typeface="Tahoma"/>
                <a:cs typeface="Tahoma"/>
              </a:rPr>
              <a:t>Artifacts: notebook, CSV outputs, and generated figures are under output/jupyter-notebook/som-world-map/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C46E8-E9C6-480C-BABD-3DFA596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A8177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9919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2026-05-13T16:52:02.4740000Z</dcterms:created>
  <dcterms:modified xsi:type="dcterms:W3CDTF">2026-05-13T16:52:02.4740000Z</dcterms:modified>
</coreProperties>
</file>